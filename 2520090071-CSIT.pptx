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Slide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Slide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87120" y="60480"/>
            <a:ext cx="1532520" cy="621000"/>
          </a:xfrm>
          <a:custGeom>
            <a:avLst/>
            <a:gdLst/>
            <a:ahLst/>
            <a:rect l="0" t="0" r="r" b="b"/>
            <a:pathLst>
              <a:path w="4257" h="1725">
                <a:moveTo>
                  <a:pt x="0" y="0"/>
                </a:moveTo>
                <a:lnTo>
                  <a:pt x="4257" y="0"/>
                </a:lnTo>
                <a:lnTo>
                  <a:pt x="4257" y="1725"/>
                </a:lnTo>
                <a:lnTo>
                  <a:pt x="0" y="172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tretch/>
          </a:blip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493920" y="136440"/>
            <a:ext cx="11543400" cy="112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 rtl="1">
              <a:lnSpc>
                <a:spcPct val="90000"/>
              </a:lnSpc>
            </a:pPr>
            <a:r>
              <a:rPr lang="en-US" sz="2400" b="0" u="none" strike="noStrike">
                <a:solidFill>
                  <a:srgbClr val="006FC0"/>
                </a:solidFill>
                <a:effectLst/>
                <a:uFillTx/>
                <a:latin typeface="Calibri"/>
                <a:ea typeface="Calibri"/>
              </a:rPr>
              <a:t>Title: Blood Donation and Request Management System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838080" y="1150200"/>
            <a:ext cx="10515600" cy="109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5000" lnSpcReduction="19999"/>
          </a:bodyPr>
          <a:p>
            <a:pPr algn="ctr" rtl="1">
              <a:lnSpc>
                <a:spcPct val="72000"/>
              </a:lnSpc>
              <a:spcBef>
                <a:spcPts val="1001"/>
              </a:spcBef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Student Name: D. Vignesh Kumar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rtl="1">
              <a:lnSpc>
                <a:spcPct val="72000"/>
              </a:lnSpc>
              <a:spcBef>
                <a:spcPts val="1001"/>
              </a:spcBef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Student ID: 2520090071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rtl="1">
              <a:lnSpc>
                <a:spcPct val="72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Cluster: 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rtl="1">
              <a:lnSpc>
                <a:spcPct val="72000"/>
              </a:lnSpc>
              <a:spcBef>
                <a:spcPts val="1001"/>
              </a:spcBef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Section: 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" name=""/>
          <p:cNvPicPr/>
          <p:nvPr/>
        </p:nvPicPr>
        <p:blipFill>
          <a:blip r:embed="rId1"/>
          <a:stretch/>
        </p:blipFill>
        <p:spPr>
          <a:xfrm>
            <a:off x="5356440" y="5015880"/>
            <a:ext cx="1725840" cy="93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"/>
          <p:cNvSpPr txBox="1"/>
          <p:nvPr/>
        </p:nvSpPr>
        <p:spPr>
          <a:xfrm>
            <a:off x="883800" y="3332520"/>
            <a:ext cx="11108160" cy="157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algn="ctr" rtl="1">
              <a:lnSpc>
                <a:spcPct val="72000"/>
              </a:lnSpc>
              <a:spcBef>
                <a:spcPts val="1001"/>
              </a:spcBef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Under the Guidance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rtl="1">
              <a:lnSpc>
                <a:spcPct val="72000"/>
              </a:lnSpc>
              <a:spcBef>
                <a:spcPts val="1001"/>
              </a:spcBef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of</a:t>
            </a: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rtl="1">
              <a:lnSpc>
                <a:spcPct val="72000"/>
              </a:lnSpc>
              <a:spcBef>
                <a:spcPts val="1001"/>
              </a:spcBef>
            </a:pPr>
            <a:r>
              <a:rPr lang="en-US" sz="2100" b="0" u="none" strike="noStrike">
                <a:solidFill>
                  <a:srgbClr val="00B04F"/>
                </a:solidFill>
                <a:effectLst/>
                <a:uFillTx/>
                <a:latin typeface="Calibri"/>
                <a:ea typeface="Calibri"/>
              </a:rPr>
              <a:t>Supervisor Name: xxxxxxxx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rtl="1">
              <a:lnSpc>
                <a:spcPct val="72000"/>
              </a:lnSpc>
              <a:spcBef>
                <a:spcPts val="1001"/>
              </a:spcBef>
            </a:pPr>
            <a:r>
              <a:rPr lang="en-US" sz="2100" b="0" u="none" strike="noStrike">
                <a:solidFill>
                  <a:srgbClr val="00B04F"/>
                </a:solidFill>
                <a:effectLst/>
                <a:uFillTx/>
                <a:latin typeface="Calibri"/>
                <a:ea typeface="Calibri"/>
              </a:rPr>
              <a:t>Assistant Professor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rtl="1">
              <a:lnSpc>
                <a:spcPct val="72000"/>
              </a:lnSpc>
              <a:spcBef>
                <a:spcPts val="1001"/>
              </a:spcBef>
            </a:pPr>
            <a:r>
              <a:rPr lang="en-US" sz="2100" b="0" u="none" strike="noStrike">
                <a:solidFill>
                  <a:srgbClr val="00B04F"/>
                </a:solidFill>
                <a:effectLst/>
                <a:uFillTx/>
                <a:latin typeface="Calibri"/>
                <a:ea typeface="Calibri"/>
              </a:rPr>
              <a:t>Department of CSE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 txBox="1"/>
          <p:nvPr/>
        </p:nvSpPr>
        <p:spPr>
          <a:xfrm>
            <a:off x="1180440" y="365040"/>
            <a:ext cx="10173240" cy="1127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 rtl="1">
              <a:lnSpc>
                <a:spcPct val="9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-Light"/>
                <a:ea typeface="Calibri-Light"/>
              </a:rPr>
              <a:t>OUTLINE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838080" y="1493280"/>
            <a:ext cx="10515600" cy="468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246240" indent="-246240" rtl="1">
              <a:lnSpc>
                <a:spcPct val="72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OpenSymbol"/>
              <a:buAutoNum type="arabicPeriod"/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Abstract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6240" indent="-246240" rtl="1">
              <a:lnSpc>
                <a:spcPct val="72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OpenSymbol"/>
              <a:buAutoNum type="arabicPeriod"/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Existing System</a:t>
            </a: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6240" indent="-246240" rtl="1">
              <a:lnSpc>
                <a:spcPct val="72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OpenSymbol"/>
              <a:buAutoNum type="arabicPeriod"/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Proposed System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6240" indent="-246240" rtl="1">
              <a:lnSpc>
                <a:spcPct val="72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OpenSymbol"/>
              <a:buAutoNum type="arabicPeriod"/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System Architecture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6240" indent="-246240" rtl="1">
              <a:lnSpc>
                <a:spcPct val="72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OpenSymbol"/>
              <a:buAutoNum type="arabicPeriod"/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Project Modules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6240" indent="-246240" rtl="1">
              <a:lnSpc>
                <a:spcPct val="72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OpenSymbol"/>
              <a:buAutoNum type="arabicPeriod"/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Objectives</a:t>
            </a: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6240" indent="-246240" rtl="1">
              <a:lnSpc>
                <a:spcPct val="72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OpenSymbol"/>
              <a:buAutoNum type="arabicPeriod"/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Co’s Attainments - FWD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1840" lvl="1" indent="-224640" rtl="1">
              <a:lnSpc>
                <a:spcPct val="72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OpenSymbol"/>
              <a:buAutoNum type="arabicPeriod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Co1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1840" lvl="1" indent="-224640" rtl="1">
              <a:lnSpc>
                <a:spcPct val="72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OpenSymbol"/>
              <a:buAutoNum type="arabicPeriod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Co2 …….. 5. Co5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6240" indent="-246240" rtl="1">
              <a:lnSpc>
                <a:spcPct val="72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OpenSymbol"/>
              <a:buAutoNum type="arabicPeriod"/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Co’s Attainments - DSA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1840" lvl="1" indent="-224640" rtl="1">
              <a:lnSpc>
                <a:spcPct val="72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OpenSymbol"/>
              <a:buAutoNum type="arabicPeriod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Co1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1840" lvl="1" indent="-224640" rtl="1">
              <a:lnSpc>
                <a:spcPct val="72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OpenSymbol"/>
              <a:buAutoNum type="arabicPeriod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Co2 …….. 5. Co5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6240" indent="-246240" rtl="1">
              <a:lnSpc>
                <a:spcPct val="72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OpenSymbol"/>
              <a:buAutoNum type="arabicPeriod"/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Screen Shots for FWD &amp; DSA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6240" indent="-246240" rtl="1">
              <a:lnSpc>
                <a:spcPct val="72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OpenSymbol"/>
              <a:buAutoNum type="arabicPeriod"/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Conclusion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6240" indent="-246240" rtl="1">
              <a:lnSpc>
                <a:spcPct val="72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OpenSymbol"/>
              <a:buAutoNum type="arabicPeriod"/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Geo-Tagged Photos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1180440" y="365040"/>
            <a:ext cx="10173240" cy="1127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 rtl="1">
              <a:lnSpc>
                <a:spcPct val="9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-Light"/>
                <a:ea typeface="Calibri-Light"/>
              </a:rPr>
              <a:t>Abstract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838080" y="149004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289800" indent="-2898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 full-stack web-based application designed to manage blood donation and request processes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9800" indent="-2898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Helps streamline donor registration, blood requests, and donor–recipient coordination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9800" indent="-2898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The main objective is to reduce delays in finding compatible blood donors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9800" indent="-2898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Improves transparency in blood availability for hospitals and recipients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9800" indent="-2898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Donors can register by providing blood group, location, contact details, and availability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9800" indent="-2898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Recipients or hospitals can submit blood requests with type, quantity, urgency, and location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9800" indent="-2898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The system automatically matches donors with requests based on blood group compatibility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 txBox="1"/>
          <p:nvPr/>
        </p:nvSpPr>
        <p:spPr>
          <a:xfrm>
            <a:off x="1180440" y="365040"/>
            <a:ext cx="10173240" cy="1127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 rtl="1">
              <a:lnSpc>
                <a:spcPct val="9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-Light"/>
                <a:ea typeface="Calibri-Light"/>
              </a:rPr>
              <a:t>Existing System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-Light"/>
                <a:ea typeface="Calibri-Light"/>
              </a:rPr>
              <a:t> 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838080" y="149472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92500" lnSpcReduction="9999"/>
          </a:bodyPr>
          <a:p>
            <a:pPr algn="just" rtl="1">
              <a:lnSpc>
                <a:spcPct val="81000"/>
              </a:lnSpc>
              <a:spcBef>
                <a:spcPts val="1001"/>
              </a:spcBef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•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Blood donation and request activities are mostly managed manually in hospitals and blood banks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36560" indent="-279360" algn="just" rtl="1">
              <a:lnSpc>
                <a:spcPct val="81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"/>
              <a:buChar char=" 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36560" lvl="1" indent="-279360" algn="just" rtl="1">
              <a:lnSpc>
                <a:spcPct val="81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"/>
              <a:buChar char=" 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•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Information about donors, blood groups, and availability is usually stored in paper records or basic spreadsheets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36560" lvl="1" indent="-279360" algn="just" rtl="1">
              <a:lnSpc>
                <a:spcPct val="81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"/>
              <a:buChar char=" 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•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People who need blood must contact hospitals, blood banks, or donors individually, which takes more time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36560" lvl="1" indent="-279360" algn="just" rtl="1">
              <a:lnSpc>
                <a:spcPct val="81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"/>
              <a:buChar char=" 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•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There is no centralized system to quickly find available donors during emergencies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36560" lvl="1" indent="-279360" algn="just" rtl="1">
              <a:lnSpc>
                <a:spcPct val="81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"/>
              <a:buChar char=" 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•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Communication between donors, recipients, and blood banks is often slow and inefficient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36560" lvl="1" indent="-279360" algn="just" rtl="1">
              <a:lnSpc>
                <a:spcPct val="81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"/>
              <a:buChar char=" 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•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Manual systems may lead to data errors, delays, and difficulty in tracking donor history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36560" lvl="1" indent="-279360" algn="just" rtl="1">
              <a:lnSpc>
                <a:spcPct val="81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"/>
              <a:buChar char=" 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•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Lack of awareness and proper platforms makes finding suitable blood donors difficult in urgent situations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 txBox="1"/>
          <p:nvPr/>
        </p:nvSpPr>
        <p:spPr>
          <a:xfrm>
            <a:off x="1180440" y="365040"/>
            <a:ext cx="10173240" cy="1127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 rtl="1">
              <a:lnSpc>
                <a:spcPct val="9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-Light"/>
                <a:ea typeface="Calibri-Light"/>
              </a:rPr>
              <a:t>Proposed System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838080" y="1281240"/>
            <a:ext cx="10667880" cy="493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92500" lnSpcReduction="9999"/>
          </a:bodyPr>
          <a:p>
            <a:pPr rtl="1">
              <a:lnSpc>
                <a:spcPct val="81000"/>
              </a:lnSpc>
              <a:spcBef>
                <a:spcPts val="1001"/>
              </a:spcBef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• </a:t>
            </a: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Create a centralized database to store donor details such as name, blood group, contact information, and donation history</a:t>
            </a: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.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rtl="1">
              <a:lnSpc>
                <a:spcPct val="81000"/>
              </a:lnSpc>
              <a:spcBef>
                <a:spcPts val="1001"/>
              </a:spcBef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• </a:t>
            </a: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Allow donors to register online and update their availability for blood donation</a:t>
            </a: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.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rtl="1">
              <a:lnSpc>
                <a:spcPct val="81000"/>
              </a:lnSpc>
              <a:spcBef>
                <a:spcPts val="1001"/>
              </a:spcBef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• </a:t>
            </a: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Enable patients or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hospitals</a:t>
            </a: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 to quickly search for available donors based on blood group and location</a:t>
            </a: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.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rtl="1">
              <a:lnSpc>
                <a:spcPct val="81000"/>
              </a:lnSpc>
              <a:spcBef>
                <a:spcPts val="1001"/>
              </a:spcBef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• </a:t>
            </a: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Provide a blood request feature where users can post emergency blood requirements</a:t>
            </a: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.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rtl="1">
              <a:lnSpc>
                <a:spcPct val="81000"/>
              </a:lnSpc>
              <a:spcBef>
                <a:spcPts val="1001"/>
              </a:spcBef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• </a:t>
            </a: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Send notifications or alerts to suitable donors when a blood request is made</a:t>
            </a: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.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rtl="1">
              <a:lnSpc>
                <a:spcPct val="81000"/>
              </a:lnSpc>
              <a:spcBef>
                <a:spcPts val="1001"/>
              </a:spcBef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• </a:t>
            </a: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Maintain accurate records and easy tracking of donors and blood requests</a:t>
            </a: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.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rtl="1">
              <a:lnSpc>
                <a:spcPct val="81000"/>
              </a:lnSpc>
              <a:spcBef>
                <a:spcPts val="1001"/>
              </a:spcBef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• </a:t>
            </a: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Improve communication between donors, recipients, and blood banks through a simple digital platform</a:t>
            </a: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.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 txBox="1"/>
          <p:nvPr/>
        </p:nvSpPr>
        <p:spPr>
          <a:xfrm>
            <a:off x="839520" y="216000"/>
            <a:ext cx="10173240" cy="1127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 rtl="1">
              <a:lnSpc>
                <a:spcPct val="9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-Light"/>
                <a:ea typeface="Calibri-Light"/>
              </a:rPr>
              <a:t>System Architecture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369360" y="1185120"/>
            <a:ext cx="6123600" cy="4917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rtl="1">
              <a:lnSpc>
                <a:spcPct val="128000"/>
              </a:lnSpc>
              <a:spcBef>
                <a:spcPts val="1001"/>
              </a:spcBef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• </a:t>
            </a: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User Interface (Front-End): 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 Users such as donors, recipients, and administrators interact with the system through a web interface to register, search donors, and request blood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rtl="1">
              <a:lnSpc>
                <a:spcPct val="128000"/>
              </a:lnSpc>
              <a:spcBef>
                <a:spcPts val="1001"/>
              </a:spcBef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• </a:t>
            </a: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Application Layer (Server / Logic): 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 Handles the business logic, processes user requests, verifies donor information, and manages blood request notifications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rtl="1">
              <a:lnSpc>
                <a:spcPct val="128000"/>
              </a:lnSpc>
              <a:spcBef>
                <a:spcPts val="1001"/>
              </a:spcBef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• </a:t>
            </a: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Database Layer: 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Stores all important data such as donor details, blood groups, request records, and donation history in a centralised database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rtl="1">
              <a:lnSpc>
                <a:spcPct val="128000"/>
              </a:lnSpc>
              <a:spcBef>
                <a:spcPts val="1001"/>
              </a:spcBef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• </a:t>
            </a: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Admin Module: 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Allows administrators to manage donor registrations, verify requests, and monitor blood availability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" name=""/>
          <p:cNvPicPr/>
          <p:nvPr/>
        </p:nvPicPr>
        <p:blipFill>
          <a:blip r:embed="rId1"/>
          <a:stretch/>
        </p:blipFill>
        <p:spPr>
          <a:xfrm>
            <a:off x="6490080" y="1703880"/>
            <a:ext cx="5417280" cy="4062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 txBox="1"/>
          <p:nvPr/>
        </p:nvSpPr>
        <p:spPr>
          <a:xfrm>
            <a:off x="839520" y="-2520"/>
            <a:ext cx="10173240" cy="1127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 rtl="1">
              <a:lnSpc>
                <a:spcPct val="9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-Light"/>
                <a:ea typeface="Calibri-Light"/>
              </a:rPr>
              <a:t>Project Modules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838080" y="845280"/>
            <a:ext cx="10515600" cy="5513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p>
            <a:pPr marL="265320" indent="-26532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1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Donor Registration Module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5320" indent="-26532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Allows donors to register with personal details such as name, age, blood group, contact number, and location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5320" indent="-26532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Donors can update their profile and availability for blood donation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5320" indent="-26532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2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Blood Request Module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5320" indent="-26532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Patients or hospitals can submit blood requests by specifying blood group, location, and urgency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5320" indent="-26532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The system records and manages all blood requests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5320" indent="-26532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3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Donor Search Module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5320" indent="-26532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Users can search for available donors based on blood group and location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5320" indent="-26532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Displays a list of suitable donors with contact information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5320" indent="-26532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4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NewRomanPS-BoldMT"/>
                <a:ea typeface="TimesNewRomanPS-BoldMT"/>
              </a:rPr>
              <a:t>Admin Management Module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5320" indent="-26532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Admin can manage donor records, verify requests, and monitor system activities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5320" indent="-26532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Admin can also add, edit, or delete donor information if needed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 txBox="1"/>
          <p:nvPr/>
        </p:nvSpPr>
        <p:spPr>
          <a:xfrm>
            <a:off x="1180440" y="365040"/>
            <a:ext cx="10173240" cy="1127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 rtl="1">
              <a:lnSpc>
                <a:spcPct val="9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-Light"/>
                <a:ea typeface="Calibri-Light"/>
              </a:rPr>
              <a:t>Objectives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838080" y="156996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p>
            <a:pPr marL="314280" indent="-31428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To develop an efficient online system for managing blood donation and blood requests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rtl="1">
              <a:lnSpc>
                <a:spcPct val="90000"/>
              </a:lnSpc>
              <a:spcBef>
                <a:spcPts val="1001"/>
              </a:spcBef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•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To create a centralized database of blood donors with their blood groups and contact information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rtl="1">
              <a:lnSpc>
                <a:spcPct val="90000"/>
              </a:lnSpc>
              <a:spcBef>
                <a:spcPts val="1001"/>
              </a:spcBef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•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To help patients and hospitals quickly find suitable blood donors during emergencies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rtl="1">
              <a:lnSpc>
                <a:spcPct val="90000"/>
              </a:lnSpc>
              <a:spcBef>
                <a:spcPts val="1001"/>
              </a:spcBef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•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To simplify the blood donation process through online registration and request management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rtl="1">
              <a:lnSpc>
                <a:spcPct val="90000"/>
              </a:lnSpc>
              <a:spcBef>
                <a:spcPts val="1001"/>
              </a:spcBef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•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To improve communication between donors, recipients, and blood banks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rtl="1">
              <a:lnSpc>
                <a:spcPct val="90000"/>
              </a:lnSpc>
              <a:spcBef>
                <a:spcPts val="1001"/>
              </a:spcBef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•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To reduce manual work, time delays, and errors in the traditional blood donation system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 txBox="1"/>
          <p:nvPr/>
        </p:nvSpPr>
        <p:spPr>
          <a:xfrm>
            <a:off x="1180440" y="365040"/>
            <a:ext cx="10173240" cy="1127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 rtl="1">
              <a:lnSpc>
                <a:spcPct val="9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-Light"/>
                <a:ea typeface="Calibri-Light"/>
              </a:rPr>
              <a:t>Co’s Attainments - FWD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838080" y="1490040"/>
            <a:ext cx="9156960" cy="468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710640" indent="-253440" rtl="1">
              <a:lnSpc>
                <a:spcPct val="72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CO-1 (Internet + HTML/CSS)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74640" lvl="1" indent="-217440" rtl="1">
              <a:lnSpc>
                <a:spcPct val="72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Static HTML pages (login, dashboard, etc.) use proper document structure and links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74640" lvl="1" indent="-217440" rtl="1">
              <a:lnSpc>
                <a:spcPct val="72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CSS provides layout, typography, colours, spacing, and basic hover/transition effects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74640" lvl="1" indent="-217440" rtl="1">
              <a:lnSpc>
                <a:spcPct val="72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74640" lvl="1" indent="-217440" rtl="1">
              <a:lnSpc>
                <a:spcPct val="72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CO-2 (Forms + Semantic + Layouts)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74640" lvl="1" indent="-217440" rtl="1">
              <a:lnSpc>
                <a:spcPct val="72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Login/registration forms with inputs and basic validation messages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74640" lvl="1" indent="-217440" rtl="1">
              <a:lnSpc>
                <a:spcPct val="72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Structured layouts using header/menu/container; tables for lists; images via &lt;img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&gt;.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74640" lvl="1" indent="-217440" rtl="1">
              <a:lnSpc>
                <a:spcPct val="72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CSS includes flex layout, transitions, and shared variables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. 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74640" lvl="1" indent="-217440" rtl="1">
              <a:lnSpc>
                <a:spcPct val="72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CO-3 (JS Essentials)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74640" lvl="1" indent="-217440" rtl="1">
              <a:lnSpc>
                <a:spcPct val="72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JS uses functions, conditionals, objects/arrays, and array methods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74640" lvl="1" indent="-217440" rtl="1">
              <a:lnSpc>
                <a:spcPct val="72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Handles login/register logic and book list processing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. 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74640" lvl="1" indent="-217440" rtl="1">
              <a:lnSpc>
                <a:spcPct val="72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CO-4 (DOM &amp; Interactivity)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74640" lvl="1" indent="-217440" rtl="1">
              <a:lnSpc>
                <a:spcPct val="72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Shows/hides sections, updates page content, and responds to clicks/typing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74640" lvl="1" indent="-217440" rtl="1">
              <a:lnSpc>
                <a:spcPct val="72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Uses local Storage for persisting data (login state, books)Course Outcome 5 (Advanced + Deployment)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74640" lvl="1" indent="-217440" rtl="1">
              <a:lnSpc>
                <a:spcPct val="72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Basic input validation and error messages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74640" lvl="1" indent="-217440" rtl="1">
              <a:lnSpc>
                <a:spcPct val="72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App is deployable as static site; can be improved with modules, meta tags, and API integration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 txBox="1"/>
          <p:nvPr/>
        </p:nvSpPr>
        <p:spPr>
          <a:xfrm>
            <a:off x="1180440" y="365040"/>
            <a:ext cx="10173240" cy="1127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 rtl="1">
              <a:lnSpc>
                <a:spcPct val="9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-Light"/>
                <a:ea typeface="Calibri-Light"/>
              </a:rPr>
              <a:t>Co’s Attainments - DSA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838080" y="1367280"/>
            <a:ext cx="10515600" cy="4788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217440" indent="-2174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alibri-Bold"/>
                <a:ea typeface="Calibri-Bold"/>
              </a:rPr>
              <a:t>CO1 – Data Structures Fundamentals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7440" indent="-21744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Arrays for Book Catalog Storage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7440" indent="-21744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Storage in Hash Maps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7440" indent="-21744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Memory Layout &amp; Traversal Operations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7440" indent="-21744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Linked Lists &amp; Pointer Reversal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7440" indent="-21744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Big O Time &amp; Space Complexity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rtl="1">
              <a:lnSpc>
                <a:spcPct val="90000"/>
              </a:lnSpc>
              <a:spcBef>
                <a:spcPts val="1001"/>
              </a:spcBef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 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7440" indent="-21744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alibri-Bold"/>
                <a:ea typeface="Calibri-Bold"/>
              </a:rPr>
              <a:t>CO2 – Stack &amp; Tree Implementation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7440" indent="-21744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Stack to Track Return Dates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7440" indent="-21744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Binary Search Trees Usage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7440" indent="-21744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BST for Sorted Catalog View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7440" indent="-21744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Ordered Tree Balancing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7440" indent="-21744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B-Tree Based Genre Hierarchy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 txBox="1"/>
          <p:nvPr/>
        </p:nvSpPr>
        <p:spPr>
          <a:xfrm>
            <a:off x="905040" y="1176840"/>
            <a:ext cx="4707000" cy="450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marL="229320" indent="-229320" rtl="1">
              <a:lnSpc>
                <a:spcPct val="72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700" b="1" u="none" strike="noStrike">
                <a:solidFill>
                  <a:srgbClr val="000000"/>
                </a:solidFill>
                <a:effectLst/>
                <a:uFillTx/>
                <a:latin typeface="Calibri-Bold"/>
                <a:ea typeface="Calibri-Bold"/>
              </a:rPr>
              <a:t>CO3 – Queue &amp; HashMap Usage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9320" indent="-229320" rtl="1">
              <a:lnSpc>
                <a:spcPct val="72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Book Reservation Queue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9320" indent="-229320" rtl="1">
              <a:lnSpc>
                <a:spcPct val="72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Returning Book FIFO Queue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9320" indent="-229320" rtl="1">
              <a:lnSpc>
                <a:spcPct val="72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HashMap for Fast Book Lookup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9320" indent="-229320" rtl="1">
              <a:lnSpc>
                <a:spcPct val="72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Merge Sort to Rank / Filter Results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9320" indent="-229320" rtl="1">
              <a:lnSpc>
                <a:spcPct val="72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Due Date Notification Queue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9320" indent="-229320" rtl="1">
              <a:lnSpc>
                <a:spcPct val="72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 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9320" indent="-229320" rtl="1">
              <a:lnSpc>
                <a:spcPct val="72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700" b="1" u="none" strike="noStrike">
                <a:solidFill>
                  <a:srgbClr val="000000"/>
                </a:solidFill>
                <a:effectLst/>
                <a:uFillTx/>
                <a:latin typeface="Calibri-Bold"/>
                <a:ea typeface="Calibri-Bold"/>
              </a:rPr>
              <a:t>CO4 – Search &amp; Sort Optimization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9320" indent="-229320" rtl="1">
              <a:lnSpc>
                <a:spcPct val="72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Binary Search for Indexed Catalog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9320" indent="-229320" rtl="1">
              <a:lnSpc>
                <a:spcPct val="72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Merge Sort for Ranked / Filtered Results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9320" indent="-229320" rtl="1">
              <a:lnSpc>
                <a:spcPct val="72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Hash Maps for Title / Author / ISBN Lookup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9320" indent="-229320" rtl="1">
              <a:lnSpc>
                <a:spcPct val="72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Binary Search for Ranked Results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9320" indent="-229320" rtl="1">
              <a:lnSpc>
                <a:spcPct val="72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Real-time Suggestion Engine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"/>
          <p:cNvSpPr txBox="1"/>
          <p:nvPr/>
        </p:nvSpPr>
        <p:spPr>
          <a:xfrm>
            <a:off x="2021760" y="-30060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rtl="1">
              <a:lnSpc>
                <a:spcPct val="9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-Light"/>
                <a:ea typeface="Calibri-Light"/>
              </a:rPr>
              <a:t>Screenshots for FWD &amp; DSA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"/>
          <p:cNvPicPr/>
          <p:nvPr/>
        </p:nvPicPr>
        <p:blipFill>
          <a:blip r:embed="rId1"/>
          <a:stretch/>
        </p:blipFill>
        <p:spPr>
          <a:xfrm>
            <a:off x="6550560" y="648720"/>
            <a:ext cx="5012640" cy="275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"/>
          <p:cNvPicPr/>
          <p:nvPr/>
        </p:nvPicPr>
        <p:blipFill>
          <a:blip r:embed="rId2"/>
          <a:stretch/>
        </p:blipFill>
        <p:spPr>
          <a:xfrm>
            <a:off x="796320" y="647280"/>
            <a:ext cx="4844880" cy="2727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"/>
          <p:cNvPicPr/>
          <p:nvPr/>
        </p:nvPicPr>
        <p:blipFill>
          <a:blip r:embed="rId3"/>
          <a:stretch/>
        </p:blipFill>
        <p:spPr>
          <a:xfrm>
            <a:off x="793080" y="3595320"/>
            <a:ext cx="4850280" cy="27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"/>
          <p:cNvPicPr/>
          <p:nvPr/>
        </p:nvPicPr>
        <p:blipFill>
          <a:blip r:embed="rId4"/>
          <a:stretch/>
        </p:blipFill>
        <p:spPr>
          <a:xfrm>
            <a:off x="6547320" y="3600720"/>
            <a:ext cx="5030640" cy="2756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 txBox="1"/>
          <p:nvPr/>
        </p:nvSpPr>
        <p:spPr>
          <a:xfrm>
            <a:off x="1180440" y="365040"/>
            <a:ext cx="10173240" cy="1127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algn="ctr" rtl="1">
              <a:lnSpc>
                <a:spcPct val="9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-Light"/>
                <a:ea typeface="Calibri-Light"/>
              </a:rPr>
              <a:t>Conclusion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838080" y="1378080"/>
            <a:ext cx="10835280" cy="4798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314280" indent="-314280" rtl="1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_x0000_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The Blood Donation &amp; Request Management System provides an efficient and organized platform for managing blood donations and requests. The system simplifies the process of donor registration, blood request submission, and donor–recipient matching through a centralized web-based interface. By automatically identifying compatible donors based on blood group and location, the system helps reduce the time required to find suitable blood donors during emergencies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NewRomanPSMT"/>
                <a:ea typeface="TimesNewRomanPSMT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 txBox="1"/>
          <p:nvPr/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p>
            <a:pPr rtl="1">
              <a:lnSpc>
                <a:spcPct val="90000"/>
              </a:lnSpc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-Light"/>
                <a:ea typeface="Calibri-Light"/>
              </a:rPr>
              <a:t>Geo- Tag Photos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" name=""/>
          <p:cNvPicPr/>
          <p:nvPr/>
        </p:nvPicPr>
        <p:blipFill>
          <a:blip r:embed="rId1"/>
          <a:stretch/>
        </p:blipFill>
        <p:spPr>
          <a:xfrm>
            <a:off x="1110960" y="1543320"/>
            <a:ext cx="3706200" cy="4577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" name=""/>
          <p:cNvPicPr/>
          <p:nvPr/>
        </p:nvPicPr>
        <p:blipFill>
          <a:blip r:embed="rId2"/>
          <a:stretch/>
        </p:blipFill>
        <p:spPr>
          <a:xfrm>
            <a:off x="5525640" y="1548360"/>
            <a:ext cx="4041720" cy="4572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838080" y="740880"/>
            <a:ext cx="10515600" cy="5436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rtl="1">
              <a:lnSpc>
                <a:spcPct val="90000"/>
              </a:lnSpc>
              <a:spcBef>
                <a:spcPts val="1001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rtl="1">
              <a:lnSpc>
                <a:spcPct val="90000"/>
              </a:lnSpc>
              <a:spcBef>
                <a:spcPts val="1001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rtl="1">
              <a:lnSpc>
                <a:spcPct val="90000"/>
              </a:lnSpc>
              <a:spcBef>
                <a:spcPts val="1001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rtl="1">
              <a:lnSpc>
                <a:spcPct val="90000"/>
              </a:lnSpc>
              <a:spcBef>
                <a:spcPts val="1001"/>
              </a:spcBef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THANK YOU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